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2" r:id="rId1"/>
    <p:sldMasterId id="2147483809" r:id="rId2"/>
    <p:sldMasterId id="2147483845" r:id="rId3"/>
  </p:sldMasterIdLst>
  <p:notesMasterIdLst>
    <p:notesMasterId r:id="rId28"/>
  </p:notesMasterIdLst>
  <p:handoutMasterIdLst>
    <p:handoutMasterId r:id="rId29"/>
  </p:handoutMasterIdLst>
  <p:sldIdLst>
    <p:sldId id="267" r:id="rId4"/>
    <p:sldId id="257" r:id="rId5"/>
    <p:sldId id="258" r:id="rId6"/>
    <p:sldId id="262" r:id="rId7"/>
    <p:sldId id="274" r:id="rId8"/>
    <p:sldId id="276" r:id="rId9"/>
    <p:sldId id="259" r:id="rId10"/>
    <p:sldId id="286" r:id="rId11"/>
    <p:sldId id="285" r:id="rId12"/>
    <p:sldId id="282" r:id="rId13"/>
    <p:sldId id="278" r:id="rId14"/>
    <p:sldId id="260" r:id="rId15"/>
    <p:sldId id="281" r:id="rId16"/>
    <p:sldId id="261" r:id="rId17"/>
    <p:sldId id="287" r:id="rId18"/>
    <p:sldId id="275" r:id="rId19"/>
    <p:sldId id="280" r:id="rId20"/>
    <p:sldId id="288" r:id="rId21"/>
    <p:sldId id="270" r:id="rId22"/>
    <p:sldId id="264" r:id="rId23"/>
    <p:sldId id="265" r:id="rId24"/>
    <p:sldId id="266" r:id="rId25"/>
    <p:sldId id="289" r:id="rId26"/>
    <p:sldId id="283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649D166-8AA7-449B-B8A9-73069107E1C3}">
          <p14:sldIdLst>
            <p14:sldId id="267"/>
            <p14:sldId id="257"/>
            <p14:sldId id="258"/>
            <p14:sldId id="262"/>
            <p14:sldId id="274"/>
            <p14:sldId id="276"/>
            <p14:sldId id="259"/>
            <p14:sldId id="286"/>
            <p14:sldId id="285"/>
            <p14:sldId id="282"/>
            <p14:sldId id="278"/>
            <p14:sldId id="260"/>
            <p14:sldId id="281"/>
            <p14:sldId id="261"/>
            <p14:sldId id="287"/>
            <p14:sldId id="275"/>
            <p14:sldId id="280"/>
            <p14:sldId id="288"/>
            <p14:sldId id="270"/>
            <p14:sldId id="264"/>
            <p14:sldId id="265"/>
            <p14:sldId id="266"/>
            <p14:sldId id="289"/>
            <p14:sldId id="28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presProps" Target="presProps.xml"/><Relationship Id="rId8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20BF33-1117-2C1D-F211-E0094546B6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544E17-9877-59BB-8981-675C59F6509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6E2BF6-00DE-484A-9620-9E3DA7D5D319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474E8C-5907-D90B-C102-A6B4949BB78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A70678-5F4C-E19F-4765-B7102166406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4DDD0A-30C5-4FE2-83AD-E7365CFF9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931198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CAD6BA-C9FF-4527-B2D9-08B9656C0BD5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994F53-842C-4873-83AE-45DEE6DE0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53826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CA2A3-2907-4357-81A5-2E1F937CD7D5}" type="datetime1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r>
              <a:rPr lang="en-US"/>
              <a:t>Department of EC, NITJ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7016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DAC63-58CC-4875-A37B-384EA474B291}" type="datetime1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EC, NITJ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1553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3567A-938F-4016-B062-216CA632F97D}" type="datetime1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EC, NITJ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8228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23B25-A198-4189-AFCC-A2D8839597A4}" type="datetime1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EC, NITJ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9237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87AF3-10FD-4BFC-AEE6-89A0CB20366B}" type="datetime1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EC, NITJ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84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F48FE-0069-43AE-907F-968ADDC7D668}" type="datetime1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EC, NITJ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007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FA73A-1569-4499-9329-240524410708}" type="datetime1">
              <a:rPr lang="en-US" smtClean="0"/>
              <a:t>12/19/2025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EC, NITJ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01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08412-E248-4374-B413-9A4280840A68}" type="datetime1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EC, NITJ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7971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49F3FC43-C800-4785-8471-5F0349867E5C}" type="datetime1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r>
              <a:rPr lang="en-US"/>
              <a:t>Department of EC, NITJ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2153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18C7C-6FDF-40E0-9A95-EF2AD0EBA514}" type="datetime1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EC, NITJ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608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42274-10C5-4B64-97DF-C52E654D2E36}" type="datetime1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EC, NITJ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96807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86006ACD-38A3-40E1-8F0D-972AF2C6F871}" type="datetime1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r>
              <a:rPr lang="en-US"/>
              <a:t>Department of EC, NITJ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1473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1EBF9E75-D130-4493-9E99-BA37CE86A5F1}" type="datetime1">
              <a:rPr lang="en-US" smtClean="0"/>
              <a:t>12/19/2025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r>
              <a:rPr lang="en-US"/>
              <a:t>Department of EC, NITJ</a:t>
            </a:r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9131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3734C-8596-4ED3-A466-E546260CAFE8}" type="datetime1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EC, NITJ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962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D8750-5FF1-4DB9-B2B9-2F1EB46694D6}" type="datetime1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EC, NITJ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0464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D7D86-3AF6-4C60-9F64-E617708C9DE4}" type="datetime1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EC, NITJ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7609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0E865-F274-4603-B6D7-E85EA9A47596}" type="datetime1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EC, NITJ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6375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36074-CBCA-496A-A77A-8709E4B19DB7}" type="datetime1">
              <a:rPr lang="en-US" smtClean="0"/>
              <a:t>12/19/2025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EC, NITJ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8770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3C5E1-DA37-4B84-94FB-97190E6B6618}" type="datetime1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EC, NITJ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7228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3D753-984B-4659-ACF9-0DFCCEE32A0A}" type="datetime1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EC, NITJ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0596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9B679-5490-43DB-AFA2-79256367E32C}" type="datetime1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EC, NITJ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4802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AE2FF-E174-46A6-A326-9639F24282D4}" type="datetime1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EC, NITJ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3160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EAA35-84BC-4815-BEEA-DA3F5C9F4FF5}" type="datetime1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EC, NITJ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32899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924D2-C464-48D2-BD2D-CB3F3082C12C}" type="datetime1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EC, NITJ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8110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061EA-D99B-4B0C-9713-09A599504339}" type="datetime1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EC, NITJ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6061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D1624-2BC9-47E3-8D9E-7880B0761755}" type="datetime1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/>
              <a:t>Department of EC, NITJ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6040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E83F9-8E45-4411-A7A7-6315E78DE2A9}" type="datetime1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EC, NITJ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87365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A6DA9-58F7-430F-A8CD-09FA8B48BF4C}" type="datetime1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EC, NITJ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741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1794E7F5-1F9F-462E-AA0A-9279BB2E405A}" type="datetime1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EC, NITJ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001738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AC61E-4C24-4AB1-82D2-A10F16FF8C23}" type="datetime1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EC, NITJ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01561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44298-46B7-4E44-B34B-5F607754650A}" type="datetime1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EC, NITJ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42200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70FF1-52DE-4BC3-8961-537DA54FA47D}" type="datetime1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EC, NITJ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49864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C4A17-D563-4B31-A9CC-EC0339CF69A0}" type="datetime1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EC, NITJ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81496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0564D-F978-4043-81F2-7B243AFEDB1D}" type="datetime1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EC, NITJ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72308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D4A01-84C2-4089-B92A-BDE7B8198480}" type="datetime1">
              <a:rPr lang="en-US" smtClean="0"/>
              <a:t>12/19/2025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EC, NITJ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45034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3846E-3342-4442-BB6E-8F23FFA27052}" type="datetime1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EC, NITJ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69628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AD15B-2679-4E40-B61B-656D2DAF47A2}" type="datetime1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EC, NITJ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168837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EAE99-DE21-4E55-AE1D-64E07CBBD196}" type="datetime1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EC, NITJ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34783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D3A73-230D-4B5F-8778-2993204F912B}" type="datetime1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EC, NITJ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6359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69543B-C7EB-4870-8898-52DFDEAEE6F8}" type="datetime1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Department of EC, NITJ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942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76DD3D-332F-4067-A262-844748CEC197}" type="datetime1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Department of EC, NITJ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141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13" r:id="rId4"/>
    <p:sldLayoutId id="2147483814" r:id="rId5"/>
    <p:sldLayoutId id="2147483815" r:id="rId6"/>
    <p:sldLayoutId id="2147483816" r:id="rId7"/>
    <p:sldLayoutId id="2147483817" r:id="rId8"/>
    <p:sldLayoutId id="2147483818" r:id="rId9"/>
    <p:sldLayoutId id="2147483819" r:id="rId10"/>
    <p:sldLayoutId id="2147483820" r:id="rId11"/>
    <p:sldLayoutId id="2147483821" r:id="rId12"/>
    <p:sldLayoutId id="2147483822" r:id="rId13"/>
    <p:sldLayoutId id="2147483823" r:id="rId14"/>
    <p:sldLayoutId id="2147483824" r:id="rId15"/>
    <p:sldLayoutId id="2147483825" r:id="rId16"/>
    <p:sldLayoutId id="2147483826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2369543B-C7EB-4870-8898-52DFDEAEE6F8}" type="datetime1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Department of EC, NITJ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7949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48" r:id="rId3"/>
    <p:sldLayoutId id="2147483849" r:id="rId4"/>
    <p:sldLayoutId id="2147483850" r:id="rId5"/>
    <p:sldLayoutId id="2147483851" r:id="rId6"/>
    <p:sldLayoutId id="2147483852" r:id="rId7"/>
    <p:sldLayoutId id="2147483853" r:id="rId8"/>
    <p:sldLayoutId id="2147483854" r:id="rId9"/>
    <p:sldLayoutId id="2147483855" r:id="rId10"/>
    <p:sldLayoutId id="2147483856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share.google/KBrFRzuKuID7NFgjf" TargetMode="Externa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747" y="4969969"/>
            <a:ext cx="6056453" cy="1463040"/>
          </a:xfrm>
        </p:spPr>
        <p:txBody>
          <a:bodyPr/>
          <a:lstStyle/>
          <a:p>
            <a:pPr algn="l"/>
            <a:r>
              <a:rPr dirty="0"/>
              <a:t>16-bit RISC Processor</a:t>
            </a:r>
            <a:r>
              <a:rPr lang="en-IN" dirty="0"/>
              <a:t> Design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 • </a:t>
            </a:r>
            <a:r>
              <a:rPr dirty="0"/>
              <a:t>Design • Simulation</a:t>
            </a:r>
            <a:endParaRPr lang="en-IN" dirty="0"/>
          </a:p>
          <a:p>
            <a:r>
              <a:rPr dirty="0"/>
              <a:t> • Debug • Synthesis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0998" y="1902542"/>
            <a:ext cx="7290055" cy="4023360"/>
          </a:xfrm>
        </p:spPr>
        <p:txBody>
          <a:bodyPr/>
          <a:lstStyle/>
          <a:p>
            <a:endParaRPr dirty="0"/>
          </a:p>
          <a:p>
            <a:pPr lvl="1"/>
            <a:r>
              <a:rPr sz="2000" b="1" dirty="0"/>
              <a:t>Objective: </a:t>
            </a:r>
            <a:r>
              <a:rPr lang="en-IN" sz="2000" b="1" dirty="0"/>
              <a:t>To </a:t>
            </a:r>
            <a:r>
              <a:rPr sz="2000" b="1" dirty="0"/>
              <a:t>Build a simple 16‑bit RISC processor</a:t>
            </a:r>
          </a:p>
          <a:p>
            <a:pPr lvl="1"/>
            <a:r>
              <a:rPr lang="en-IN" sz="2000" b="1" dirty="0"/>
              <a:t>Tools: Verilog, Vivado</a:t>
            </a:r>
          </a:p>
          <a:p>
            <a:pPr lvl="1"/>
            <a:r>
              <a:rPr sz="2000" b="1" dirty="0"/>
              <a:t>Pipeline: Fetch, Decode, Execute, Write‑Back</a:t>
            </a:r>
            <a:endParaRPr lang="en-IN" sz="2000" b="1" dirty="0"/>
          </a:p>
          <a:p>
            <a:pPr lvl="1"/>
            <a:endParaRPr lang="en-IN" sz="2000" b="1" dirty="0"/>
          </a:p>
          <a:p>
            <a:pPr lvl="1"/>
            <a:endParaRPr sz="2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12B9F6-B84C-5038-EB5D-EFF841E267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293" t="7041" r="6789" b="8464"/>
          <a:stretch>
            <a:fillRect/>
          </a:stretch>
        </p:blipFill>
        <p:spPr>
          <a:xfrm>
            <a:off x="4807975" y="3696929"/>
            <a:ext cx="4336025" cy="301850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0" y="0"/>
            <a:ext cx="7429499" cy="1478570"/>
          </a:xfrm>
        </p:spPr>
        <p:txBody>
          <a:bodyPr/>
          <a:lstStyle/>
          <a:p>
            <a:r>
              <a:rPr b="1" u="sng" dirty="0"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276" y="1681315"/>
            <a:ext cx="7290055" cy="4876801"/>
          </a:xfrm>
        </p:spPr>
        <p:txBody>
          <a:bodyPr>
            <a:normAutofit fontScale="92500" lnSpcReduction="20000"/>
          </a:bodyPr>
          <a:lstStyle/>
          <a:p>
            <a:pPr marL="128016" lvl="1" indent="0">
              <a:buNone/>
            </a:pPr>
            <a:r>
              <a:rPr lang="en-IN" sz="3200" b="1" dirty="0"/>
              <a:t>      Components:</a:t>
            </a:r>
            <a:endParaRPr lang="en-US" sz="3200" b="1" dirty="0"/>
          </a:p>
          <a:p>
            <a:pPr lvl="1"/>
            <a:r>
              <a:rPr dirty="0"/>
              <a:t> </a:t>
            </a:r>
            <a:r>
              <a:rPr sz="2000" dirty="0"/>
              <a:t>ALU</a:t>
            </a:r>
            <a:r>
              <a:rPr lang="en-IN" sz="2000" dirty="0"/>
              <a:t>, ALU Control Unit</a:t>
            </a:r>
            <a:endParaRPr sz="2000" dirty="0"/>
          </a:p>
          <a:p>
            <a:pPr lvl="1"/>
            <a:r>
              <a:rPr sz="2000" dirty="0"/>
              <a:t> Register File</a:t>
            </a:r>
          </a:p>
          <a:p>
            <a:pPr lvl="1"/>
            <a:r>
              <a:rPr sz="2000" dirty="0"/>
              <a:t> Instruction Memory</a:t>
            </a:r>
          </a:p>
          <a:p>
            <a:pPr lvl="1"/>
            <a:r>
              <a:rPr sz="2000" dirty="0"/>
              <a:t> Data Memory</a:t>
            </a:r>
          </a:p>
          <a:p>
            <a:pPr lvl="1"/>
            <a:r>
              <a:rPr sz="2000" dirty="0"/>
              <a:t> Control Unit</a:t>
            </a:r>
          </a:p>
          <a:p>
            <a:pPr lvl="1"/>
            <a:r>
              <a:rPr lang="en-IN" sz="2000" dirty="0"/>
              <a:t> Data Path Unit</a:t>
            </a:r>
            <a:r>
              <a:rPr sz="2000" dirty="0"/>
              <a:t> </a:t>
            </a:r>
            <a:endParaRPr lang="en-IN" sz="2000" dirty="0"/>
          </a:p>
          <a:p>
            <a:pPr lvl="1"/>
            <a:r>
              <a:rPr lang="en-US" sz="2000" dirty="0"/>
              <a:t> </a:t>
            </a:r>
            <a:r>
              <a:rPr sz="2000" dirty="0"/>
              <a:t>Pipeline Stages</a:t>
            </a:r>
            <a:endParaRPr lang="en-US" sz="2000" dirty="0"/>
          </a:p>
          <a:p>
            <a:pPr marL="128016" lvl="1" indent="0">
              <a:buNone/>
            </a:pPr>
            <a:endParaRPr lang="en-IN" sz="2000" dirty="0"/>
          </a:p>
          <a:p>
            <a:pPr lvl="1"/>
            <a:endParaRPr lang="en-IN" sz="2000" dirty="0"/>
          </a:p>
          <a:p>
            <a:pPr lvl="1"/>
            <a:r>
              <a:rPr lang="en-IN" sz="2000" dirty="0"/>
              <a:t>16-bit RISC ISA, single-cycle </a:t>
            </a:r>
            <a:r>
              <a:rPr lang="en-IN" sz="2000" dirty="0" err="1"/>
              <a:t>datapath</a:t>
            </a:r>
            <a:endParaRPr lang="en-IN" sz="2000" dirty="0"/>
          </a:p>
          <a:p>
            <a:pPr lvl="1"/>
            <a:r>
              <a:rPr lang="en-IN" sz="2000" dirty="0"/>
              <a:t>Top-level: Risc_16_bit instantiates </a:t>
            </a:r>
            <a:r>
              <a:rPr lang="en-IN" sz="2000" dirty="0" err="1"/>
              <a:t>Control_Unit</a:t>
            </a:r>
            <a:r>
              <a:rPr lang="en-IN" sz="2000" dirty="0"/>
              <a:t> + </a:t>
            </a:r>
            <a:r>
              <a:rPr lang="en-IN" sz="2000" dirty="0" err="1"/>
              <a:t>Datapath_Unit</a:t>
            </a:r>
            <a:endParaRPr lang="en-IN" sz="2000" dirty="0"/>
          </a:p>
          <a:p>
            <a:pPr lvl="1"/>
            <a:r>
              <a:rPr lang="en-IN" sz="2000" dirty="0"/>
              <a:t>Memory </a:t>
            </a:r>
            <a:r>
              <a:rPr lang="en-IN" sz="2000" dirty="0" err="1"/>
              <a:t>init</a:t>
            </a:r>
            <a:r>
              <a:rPr lang="en-IN" sz="2000" dirty="0"/>
              <a:t> via $</a:t>
            </a:r>
            <a:r>
              <a:rPr lang="en-IN" sz="2000" dirty="0" err="1"/>
              <a:t>readmemb</a:t>
            </a:r>
            <a:r>
              <a:rPr lang="en-IN" sz="2000" dirty="0"/>
              <a:t>; simulation in </a:t>
            </a:r>
            <a:r>
              <a:rPr lang="en-IN" sz="2000" dirty="0" err="1"/>
              <a:t>Vivado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BC753-7BCB-737E-E687-DE890E072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2204885"/>
            <a:ext cx="5715000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Pipeline Stages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sz="2000" dirty="0"/>
              <a:t>1. Fetch – </a:t>
            </a:r>
            <a:r>
              <a:rPr lang="en-US" sz="2000" dirty="0"/>
              <a:t>I</a:t>
            </a:r>
            <a:r>
              <a:rPr sz="2000" dirty="0"/>
              <a:t>nstruction read</a:t>
            </a:r>
          </a:p>
          <a:p>
            <a:pPr lvl="1"/>
            <a:r>
              <a:rPr sz="2000" dirty="0"/>
              <a:t>2. Decode – </a:t>
            </a:r>
            <a:r>
              <a:rPr lang="en-US" sz="2000" dirty="0"/>
              <a:t>R</a:t>
            </a:r>
            <a:r>
              <a:rPr sz="2000" dirty="0"/>
              <a:t>egister file read</a:t>
            </a:r>
          </a:p>
          <a:p>
            <a:pPr lvl="1"/>
            <a:r>
              <a:rPr sz="2000" dirty="0"/>
              <a:t>3. Execute – ALU operations</a:t>
            </a:r>
            <a:endParaRPr lang="en-US" sz="2000" dirty="0"/>
          </a:p>
          <a:p>
            <a:pPr lvl="1"/>
            <a:r>
              <a:rPr lang="en-IN" sz="2000" dirty="0"/>
              <a:t>4. Memory Access – Accesses data memory</a:t>
            </a:r>
            <a:endParaRPr sz="2000" dirty="0"/>
          </a:p>
          <a:p>
            <a:pPr lvl="1"/>
            <a:r>
              <a:rPr lang="en-US" sz="2000" dirty="0"/>
              <a:t>5</a:t>
            </a:r>
            <a:r>
              <a:rPr sz="2000" dirty="0"/>
              <a:t>. Write‑Back – </a:t>
            </a:r>
            <a:r>
              <a:rPr lang="en-US" sz="2000" dirty="0"/>
              <a:t>S</a:t>
            </a:r>
            <a:r>
              <a:rPr sz="2000" dirty="0"/>
              <a:t>tore results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2B1CD5-8154-6AF9-3669-59BD4AEF0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92" y="638287"/>
            <a:ext cx="8585016" cy="5758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857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D01ECC-C9D4-7BEC-BBD6-8ED1C11F6A79}"/>
              </a:ext>
            </a:extLst>
          </p:cNvPr>
          <p:cNvSpPr txBox="1"/>
          <p:nvPr/>
        </p:nvSpPr>
        <p:spPr>
          <a:xfrm>
            <a:off x="2030197" y="184666"/>
            <a:ext cx="4296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SCHEMATIC</a:t>
            </a:r>
            <a:endParaRPr lang="en-IN" sz="36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E09916-F17E-C7DC-C435-DA85AB315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10977"/>
            <a:ext cx="9144000" cy="3236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543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6973" y="-10160"/>
            <a:ext cx="7290054" cy="1499616"/>
          </a:xfrm>
        </p:spPr>
        <p:txBody>
          <a:bodyPr>
            <a:normAutofit/>
          </a:bodyPr>
          <a:lstStyle/>
          <a:p>
            <a:pPr algn="ctr"/>
            <a:r>
              <a:rPr lang="en-IN" sz="4400" b="1" u="sng" dirty="0"/>
              <a:t>INSTRUCTION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07806"/>
            <a:ext cx="9055510" cy="5850193"/>
          </a:xfrm>
        </p:spPr>
        <p:txBody>
          <a:bodyPr>
            <a:normAutofit/>
          </a:bodyPr>
          <a:lstStyle/>
          <a:p>
            <a:pPr marL="128016" lvl="1" indent="0">
              <a:buNone/>
            </a:pPr>
            <a:r>
              <a:rPr lang="en-US" sz="4000" b="1" dirty="0"/>
              <a:t>      </a:t>
            </a:r>
            <a:r>
              <a:rPr sz="4000" b="1" dirty="0"/>
              <a:t>Operations:</a:t>
            </a:r>
          </a:p>
          <a:p>
            <a:pPr lvl="1"/>
            <a:r>
              <a:rPr sz="2500" dirty="0"/>
              <a:t> </a:t>
            </a:r>
            <a:r>
              <a:rPr sz="2000" dirty="0"/>
              <a:t>ADD, SUB, AND, OR, NOT</a:t>
            </a:r>
            <a:endParaRPr lang="en-IN" sz="2000" dirty="0"/>
          </a:p>
          <a:p>
            <a:pPr lvl="1"/>
            <a:r>
              <a:rPr lang="en-IN" sz="2000" dirty="0"/>
              <a:t> Right Shift, Left Shift</a:t>
            </a:r>
            <a:endParaRPr sz="2000" dirty="0"/>
          </a:p>
          <a:p>
            <a:pPr lvl="1"/>
            <a:r>
              <a:rPr sz="2000" dirty="0"/>
              <a:t> LOAD</a:t>
            </a:r>
            <a:r>
              <a:rPr lang="en-IN" sz="2000" dirty="0"/>
              <a:t> WORD</a:t>
            </a:r>
            <a:r>
              <a:rPr sz="2000" dirty="0"/>
              <a:t>, STORE</a:t>
            </a:r>
            <a:r>
              <a:rPr lang="en-IN" sz="2000" dirty="0"/>
              <a:t> WORD</a:t>
            </a:r>
            <a:endParaRPr sz="2000" dirty="0"/>
          </a:p>
          <a:p>
            <a:pPr lvl="1"/>
            <a:r>
              <a:rPr sz="2000" dirty="0"/>
              <a:t> BRANCH instructions</a:t>
            </a:r>
            <a:endParaRPr lang="en-US" sz="2000" dirty="0"/>
          </a:p>
          <a:p>
            <a:pPr marL="128016" lvl="1" indent="0">
              <a:buNone/>
            </a:pPr>
            <a:endParaRPr lang="en-IN" sz="900" dirty="0"/>
          </a:p>
          <a:p>
            <a:pPr marL="128016" lvl="1" indent="0">
              <a:buNone/>
            </a:pPr>
            <a:r>
              <a:rPr lang="en-IN" sz="2400" dirty="0"/>
              <a:t>The instruction set of the RISC processor:</a:t>
            </a:r>
          </a:p>
          <a:p>
            <a:pPr marL="128016" lvl="1" indent="0">
              <a:buNone/>
            </a:pPr>
            <a:endParaRPr lang="en-IN" sz="600" dirty="0"/>
          </a:p>
          <a:p>
            <a:pPr marL="128016" lvl="1" indent="0">
              <a:buNone/>
            </a:pPr>
            <a:r>
              <a:rPr lang="en-IN" sz="2400" b="1" dirty="0"/>
              <a:t>          </a:t>
            </a:r>
            <a:r>
              <a:rPr lang="en-IN" sz="2400" b="1" u="sng" dirty="0"/>
              <a:t>A. Memory Access Instructions</a:t>
            </a:r>
          </a:p>
          <a:p>
            <a:pPr marL="128016" lvl="1" indent="0">
              <a:buNone/>
            </a:pPr>
            <a:r>
              <a:rPr lang="en-IN" sz="2400" dirty="0"/>
              <a:t>1. Load word          LW </a:t>
            </a:r>
            <a:r>
              <a:rPr lang="en-IN" sz="2400" dirty="0" err="1"/>
              <a:t>ws</a:t>
            </a:r>
            <a:r>
              <a:rPr lang="en-IN" sz="2400" dirty="0"/>
              <a:t>, offset(rs1) </a:t>
            </a:r>
            <a:r>
              <a:rPr lang="en-IN" sz="2400" dirty="0" err="1"/>
              <a:t>ws</a:t>
            </a:r>
            <a:r>
              <a:rPr lang="en-IN" sz="2400" dirty="0"/>
              <a:t>:=Mem16[rs1 + offset]</a:t>
            </a:r>
          </a:p>
          <a:p>
            <a:pPr marL="128016" lvl="1" indent="0">
              <a:buNone/>
            </a:pPr>
            <a:r>
              <a:rPr lang="en-IN" sz="2400" dirty="0"/>
              <a:t>2. Store Word:        SW rs2, offset(rs1) Mem16[rs1 + offset]=rs2</a:t>
            </a:r>
          </a:p>
          <a:p>
            <a:pPr marL="128016" lvl="1" indent="0">
              <a:buNone/>
            </a:pPr>
            <a:endParaRPr lang="en-IN" sz="800" dirty="0"/>
          </a:p>
          <a:p>
            <a:pPr marL="128016" lvl="1" indent="0">
              <a:buNone/>
            </a:pPr>
            <a:endParaRPr lang="en-IN" sz="2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DE6DA-EACD-6E55-078F-AACF69929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8553691" cy="6858000"/>
          </a:xfrm>
        </p:spPr>
        <p:txBody>
          <a:bodyPr>
            <a:normAutofit/>
          </a:bodyPr>
          <a:lstStyle/>
          <a:p>
            <a:pPr marL="128016" lvl="1" indent="0" algn="ctr">
              <a:buNone/>
            </a:pPr>
            <a:r>
              <a:rPr lang="en-IN" sz="3600" b="1" u="sng" dirty="0"/>
              <a:t>B. Data Processing Instructions</a:t>
            </a:r>
          </a:p>
          <a:p>
            <a:pPr marL="128016" lvl="1" indent="0">
              <a:lnSpc>
                <a:spcPct val="150000"/>
              </a:lnSpc>
              <a:buNone/>
            </a:pPr>
            <a:r>
              <a:rPr lang="en-IN" sz="2600" dirty="0"/>
              <a:t>1. Add:                       ADD  </a:t>
            </a:r>
            <a:r>
              <a:rPr lang="en-IN" sz="2600" dirty="0" err="1"/>
              <a:t>ws</a:t>
            </a:r>
            <a:r>
              <a:rPr lang="en-IN" sz="2600" dirty="0"/>
              <a:t>, rs1, rs2 </a:t>
            </a:r>
            <a:r>
              <a:rPr lang="en-IN" sz="2600" dirty="0" err="1"/>
              <a:t>ws</a:t>
            </a:r>
            <a:r>
              <a:rPr lang="en-IN" sz="2600" dirty="0"/>
              <a:t>:=rs1 + rs2</a:t>
            </a:r>
          </a:p>
          <a:p>
            <a:pPr marL="128016" lvl="1" indent="0">
              <a:lnSpc>
                <a:spcPct val="150000"/>
              </a:lnSpc>
              <a:buNone/>
            </a:pPr>
            <a:r>
              <a:rPr lang="en-IN" sz="2600" dirty="0"/>
              <a:t>2. Subtract:                  SUB </a:t>
            </a:r>
            <a:r>
              <a:rPr lang="en-IN" sz="2600" dirty="0" err="1"/>
              <a:t>ws</a:t>
            </a:r>
            <a:r>
              <a:rPr lang="en-IN" sz="2600" dirty="0"/>
              <a:t>, rs1, rs2 </a:t>
            </a:r>
            <a:r>
              <a:rPr lang="en-IN" sz="2600" dirty="0" err="1"/>
              <a:t>ws</a:t>
            </a:r>
            <a:r>
              <a:rPr lang="en-IN" sz="2600" dirty="0"/>
              <a:t>:=rs1 – rs2</a:t>
            </a:r>
          </a:p>
          <a:p>
            <a:pPr marL="128016" lvl="1" indent="0">
              <a:lnSpc>
                <a:spcPct val="150000"/>
              </a:lnSpc>
              <a:buNone/>
            </a:pPr>
            <a:r>
              <a:rPr lang="en-IN" sz="2600" dirty="0"/>
              <a:t>3. Invert (1‘s complement):            INV </a:t>
            </a:r>
            <a:r>
              <a:rPr lang="en-IN" sz="2600" dirty="0" err="1"/>
              <a:t>ws</a:t>
            </a:r>
            <a:r>
              <a:rPr lang="en-IN" sz="2600" dirty="0"/>
              <a:t>, rs1 </a:t>
            </a:r>
            <a:r>
              <a:rPr lang="en-IN" sz="2600" dirty="0" err="1"/>
              <a:t>ws</a:t>
            </a:r>
            <a:r>
              <a:rPr lang="en-IN" sz="2600" dirty="0"/>
              <a:t>:=!rs1</a:t>
            </a:r>
          </a:p>
          <a:p>
            <a:pPr marL="128016" lvl="1" indent="0">
              <a:lnSpc>
                <a:spcPct val="150000"/>
              </a:lnSpc>
              <a:buNone/>
            </a:pPr>
            <a:r>
              <a:rPr lang="en-IN" sz="2600" dirty="0"/>
              <a:t>4. Logical Shift Left:      LSL </a:t>
            </a:r>
            <a:r>
              <a:rPr lang="en-IN" sz="2600" dirty="0" err="1"/>
              <a:t>ws</a:t>
            </a:r>
            <a:r>
              <a:rPr lang="en-IN" sz="2600" dirty="0"/>
              <a:t>, rs1, rs2 </a:t>
            </a:r>
            <a:r>
              <a:rPr lang="en-IN" sz="2600" dirty="0" err="1"/>
              <a:t>ws</a:t>
            </a:r>
            <a:r>
              <a:rPr lang="en-IN" sz="2600" dirty="0"/>
              <a:t>:=rs1 &lt;&lt; rs2</a:t>
            </a:r>
          </a:p>
          <a:p>
            <a:pPr marL="128016" lvl="1" indent="0">
              <a:lnSpc>
                <a:spcPct val="150000"/>
              </a:lnSpc>
              <a:buNone/>
            </a:pPr>
            <a:r>
              <a:rPr lang="en-IN" sz="2600" dirty="0"/>
              <a:t>5. Logical Shift Right:    LSR </a:t>
            </a:r>
            <a:r>
              <a:rPr lang="en-IN" sz="2600" dirty="0" err="1"/>
              <a:t>ws</a:t>
            </a:r>
            <a:r>
              <a:rPr lang="en-IN" sz="2600" dirty="0"/>
              <a:t>, rs1, rs2 </a:t>
            </a:r>
            <a:r>
              <a:rPr lang="en-IN" sz="2600" dirty="0" err="1"/>
              <a:t>ws</a:t>
            </a:r>
            <a:r>
              <a:rPr lang="en-IN" sz="2600" dirty="0"/>
              <a:t>:=rs1 &gt;&gt; rs2</a:t>
            </a:r>
          </a:p>
          <a:p>
            <a:pPr marL="128016" lvl="1" indent="0">
              <a:lnSpc>
                <a:spcPct val="150000"/>
              </a:lnSpc>
              <a:buNone/>
            </a:pPr>
            <a:r>
              <a:rPr lang="en-IN" sz="2600" dirty="0"/>
              <a:t>6. Bitwise AND:            AND </a:t>
            </a:r>
            <a:r>
              <a:rPr lang="en-IN" sz="2600" dirty="0" err="1"/>
              <a:t>ws</a:t>
            </a:r>
            <a:r>
              <a:rPr lang="en-IN" sz="2600" dirty="0"/>
              <a:t>, rs1, rs2 </a:t>
            </a:r>
            <a:r>
              <a:rPr lang="en-IN" sz="2600" dirty="0" err="1"/>
              <a:t>ws</a:t>
            </a:r>
            <a:r>
              <a:rPr lang="en-IN" sz="2600" dirty="0"/>
              <a:t>:=rs1 • rs2</a:t>
            </a:r>
          </a:p>
          <a:p>
            <a:pPr marL="128016" lvl="1" indent="0">
              <a:lnSpc>
                <a:spcPct val="150000"/>
              </a:lnSpc>
              <a:buNone/>
            </a:pPr>
            <a:r>
              <a:rPr lang="en-IN" sz="2600" dirty="0"/>
              <a:t>7. Bitwise OR:                  OR </a:t>
            </a:r>
            <a:r>
              <a:rPr lang="en-IN" sz="2600" dirty="0" err="1"/>
              <a:t>ws</a:t>
            </a:r>
            <a:r>
              <a:rPr lang="en-IN" sz="2600" dirty="0"/>
              <a:t>, rs1, rs2 </a:t>
            </a:r>
            <a:r>
              <a:rPr lang="en-IN" sz="2600" dirty="0" err="1"/>
              <a:t>ws</a:t>
            </a:r>
            <a:r>
              <a:rPr lang="en-IN" sz="2600" dirty="0"/>
              <a:t>:=rs1 | rs2</a:t>
            </a:r>
          </a:p>
          <a:p>
            <a:pPr marL="128016" lvl="1" indent="0">
              <a:lnSpc>
                <a:spcPct val="150000"/>
              </a:lnSpc>
              <a:buNone/>
            </a:pPr>
            <a:r>
              <a:rPr lang="en-IN" sz="2600" dirty="0"/>
              <a:t>8. Set on Less Than:   </a:t>
            </a:r>
          </a:p>
          <a:p>
            <a:pPr marL="128016" lvl="1" indent="0">
              <a:lnSpc>
                <a:spcPct val="150000"/>
              </a:lnSpc>
              <a:buNone/>
            </a:pPr>
            <a:r>
              <a:rPr lang="en-IN" sz="2600" dirty="0"/>
              <a:t>     SLT </a:t>
            </a:r>
            <a:r>
              <a:rPr lang="en-IN" sz="2600" dirty="0" err="1"/>
              <a:t>ws</a:t>
            </a:r>
            <a:r>
              <a:rPr lang="en-IN" sz="2600" dirty="0"/>
              <a:t>, rs1, rs2 </a:t>
            </a:r>
            <a:r>
              <a:rPr lang="en-IN" sz="2600" dirty="0" err="1"/>
              <a:t>ws</a:t>
            </a:r>
            <a:r>
              <a:rPr lang="en-IN" sz="2600" dirty="0"/>
              <a:t>:=1 if rs1 &lt; rs2; </a:t>
            </a:r>
            <a:r>
              <a:rPr lang="en-IN" sz="2600" dirty="0" err="1"/>
              <a:t>ws</a:t>
            </a:r>
            <a:r>
              <a:rPr lang="en-IN" sz="2600" dirty="0"/>
              <a:t>:=0 if rs1 ≥ rs2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9601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FCBF8-B249-D8A7-229E-12EFFA50E4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92494"/>
            <a:ext cx="8762035" cy="3880773"/>
          </a:xfrm>
        </p:spPr>
        <p:txBody>
          <a:bodyPr>
            <a:normAutofit fontScale="92500"/>
          </a:bodyPr>
          <a:lstStyle/>
          <a:p>
            <a:pPr marL="128016" lvl="1" indent="0">
              <a:buNone/>
            </a:pPr>
            <a:r>
              <a:rPr lang="en-IN" sz="3000" b="1" dirty="0"/>
              <a:t>         </a:t>
            </a:r>
            <a:r>
              <a:rPr lang="en-IN" sz="3000" b="1" u="sng" dirty="0"/>
              <a:t>C. Control Flow Instructions</a:t>
            </a:r>
          </a:p>
          <a:p>
            <a:pPr marL="128016" lvl="1" indent="0">
              <a:buNone/>
            </a:pPr>
            <a:r>
              <a:rPr lang="en-IN" sz="2300" dirty="0"/>
              <a:t>1. Branch on Equal:    BEQ rs1, rs2, offset</a:t>
            </a:r>
          </a:p>
          <a:p>
            <a:pPr marL="128016" lvl="1" indent="0">
              <a:buNone/>
            </a:pPr>
            <a:r>
              <a:rPr lang="en-IN" sz="2300" dirty="0"/>
              <a:t>                                 Branch to (PC + 2 + (offset &lt;&lt; 1)) when rs1 = rs2</a:t>
            </a:r>
          </a:p>
          <a:p>
            <a:pPr marL="128016" lvl="1" indent="0">
              <a:buNone/>
            </a:pPr>
            <a:endParaRPr lang="en-IN" sz="1000" dirty="0"/>
          </a:p>
          <a:p>
            <a:pPr marL="128016" lvl="1" indent="0">
              <a:buNone/>
            </a:pPr>
            <a:r>
              <a:rPr lang="en-IN" sz="2300" dirty="0"/>
              <a:t>2. Branch on Not Equal:     BNE rs1, rs2, offset</a:t>
            </a:r>
          </a:p>
          <a:p>
            <a:pPr marL="128016" lvl="1" indent="0">
              <a:buNone/>
            </a:pPr>
            <a:r>
              <a:rPr lang="en-IN" sz="2300" dirty="0"/>
              <a:t>                                Branch to (PC + 2 + (offset &lt;&lt; 1)) when rs1 != rs2</a:t>
            </a:r>
          </a:p>
          <a:p>
            <a:pPr marL="128016" lvl="1" indent="0">
              <a:buNone/>
            </a:pPr>
            <a:endParaRPr lang="en-IN" sz="800" dirty="0"/>
          </a:p>
          <a:p>
            <a:pPr marL="128016" lvl="1" indent="0">
              <a:buNone/>
            </a:pPr>
            <a:r>
              <a:rPr lang="en-IN" sz="2300" dirty="0"/>
              <a:t>3. Jump:                  JMP offset Jump to {PC [15:13], (offset &lt;&lt; 1)}</a:t>
            </a:r>
            <a:endParaRPr lang="en-IN" sz="2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5558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91779-17BE-039F-BE95-1A6184144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182880"/>
            <a:ext cx="7290054" cy="1499616"/>
          </a:xfrm>
        </p:spPr>
        <p:txBody>
          <a:bodyPr/>
          <a:lstStyle/>
          <a:p>
            <a:r>
              <a:rPr lang="en-US" b="1" u="sng" dirty="0"/>
              <a:t>INSTRUCTION MEMORY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7BB2E-0F53-9ADF-08D2-A7782630B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894080"/>
            <a:ext cx="7827264" cy="578104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b="1" dirty="0"/>
          </a:p>
          <a:p>
            <a:r>
              <a:rPr lang="en-US" dirty="0"/>
              <a:t>The Instruction Memory stores the program that the processor executes.</a:t>
            </a:r>
            <a:br>
              <a:rPr lang="en-US" dirty="0"/>
            </a:br>
            <a:r>
              <a:rPr lang="en-US" dirty="0"/>
              <a:t>It outputs the 16-bit instruction corresponding to the current </a:t>
            </a:r>
            <a:r>
              <a:rPr lang="en-US" b="1" dirty="0"/>
              <a:t>Program Counter (PC)</a:t>
            </a:r>
            <a:r>
              <a:rPr lang="en-US" dirty="0"/>
              <a:t> value.</a:t>
            </a:r>
          </a:p>
          <a:p>
            <a:pPr marL="0" indent="0">
              <a:buNone/>
            </a:pPr>
            <a:r>
              <a:rPr lang="en-US" b="1" dirty="0"/>
              <a:t>📌 Key Features</a:t>
            </a:r>
          </a:p>
          <a:p>
            <a:pPr>
              <a:spcBef>
                <a:spcPts val="200"/>
              </a:spcBef>
            </a:pPr>
            <a:r>
              <a:rPr lang="en-US" b="1" dirty="0"/>
              <a:t>16-bit wide ROM</a:t>
            </a:r>
            <a:endParaRPr lang="en-US" dirty="0"/>
          </a:p>
          <a:p>
            <a:pPr>
              <a:spcBef>
                <a:spcPts val="200"/>
              </a:spcBef>
            </a:pPr>
            <a:r>
              <a:rPr lang="en-US" dirty="0"/>
              <a:t>Stores </a:t>
            </a:r>
            <a:r>
              <a:rPr lang="en-US" b="1" dirty="0"/>
              <a:t>up to 16 instructions</a:t>
            </a:r>
            <a:r>
              <a:rPr lang="en-US" dirty="0"/>
              <a:t> (memory[0] to memory[15])</a:t>
            </a:r>
          </a:p>
          <a:p>
            <a:pPr>
              <a:spcBef>
                <a:spcPts val="200"/>
              </a:spcBef>
            </a:pPr>
            <a:r>
              <a:rPr lang="en-US" b="1" dirty="0"/>
              <a:t>Program loaded from external file</a:t>
            </a:r>
            <a:r>
              <a:rPr lang="en-US" dirty="0"/>
              <a:t> (</a:t>
            </a:r>
            <a:r>
              <a:rPr lang="en-US" dirty="0" err="1"/>
              <a:t>test.prog</a:t>
            </a:r>
            <a:r>
              <a:rPr lang="en-US" dirty="0"/>
              <a:t>)</a:t>
            </a:r>
          </a:p>
          <a:p>
            <a:pPr>
              <a:spcBef>
                <a:spcPts val="200"/>
              </a:spcBef>
            </a:pPr>
            <a:r>
              <a:rPr lang="en-US" b="1" dirty="0"/>
              <a:t>Combinational access</a:t>
            </a:r>
            <a:r>
              <a:rPr lang="en-US" dirty="0"/>
              <a:t> → instruction available immediately when PC changes</a:t>
            </a:r>
          </a:p>
          <a:p>
            <a:pPr>
              <a:spcBef>
                <a:spcPts val="200"/>
              </a:spcBef>
            </a:pPr>
            <a:r>
              <a:rPr lang="en-US" b="1" dirty="0"/>
              <a:t>Addressing uses PC bits [4:1]</a:t>
            </a:r>
            <a:r>
              <a:rPr lang="en-US" dirty="0"/>
              <a:t> to index instruction memory</a:t>
            </a:r>
          </a:p>
          <a:p>
            <a:pPr>
              <a:spcBef>
                <a:spcPts val="200"/>
              </a:spcBef>
            </a:pPr>
            <a:endParaRPr lang="en-US" dirty="0"/>
          </a:p>
          <a:p>
            <a:pPr>
              <a:spcBef>
                <a:spcPts val="200"/>
              </a:spcBef>
            </a:pPr>
            <a:r>
              <a:rPr lang="en-US" dirty="0"/>
              <a:t>Implements the Fetch stage of the processor pipeline</a:t>
            </a:r>
          </a:p>
          <a:p>
            <a:pPr>
              <a:spcBef>
                <a:spcPts val="200"/>
              </a:spcBef>
            </a:pPr>
            <a:r>
              <a:rPr lang="en-US" dirty="0"/>
              <a:t>Allows easy program changes through the .prog file</a:t>
            </a:r>
          </a:p>
          <a:p>
            <a:pPr>
              <a:spcBef>
                <a:spcPts val="200"/>
              </a:spcBef>
            </a:pPr>
            <a:r>
              <a:rPr lang="en-US" dirty="0"/>
              <a:t>Provides a clean interface for the Control Unit and Datapath to decode and execute instructions</a:t>
            </a:r>
          </a:p>
          <a:p>
            <a:pPr>
              <a:spcBef>
                <a:spcPts val="200"/>
              </a:spcBef>
            </a:pPr>
            <a:r>
              <a:rPr lang="en-US" dirty="0"/>
              <a:t>Helps understand instruction flow inside a simple RISC CPU</a:t>
            </a:r>
          </a:p>
          <a:p>
            <a:pPr>
              <a:spcBef>
                <a:spcPts val="200"/>
              </a:spcBef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3015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52370-9020-103E-F793-A91FB4C84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2125" y="0"/>
            <a:ext cx="7290054" cy="887984"/>
          </a:xfrm>
        </p:spPr>
        <p:txBody>
          <a:bodyPr/>
          <a:lstStyle/>
          <a:p>
            <a:r>
              <a:rPr lang="en-US" b="1" u="sng" dirty="0"/>
              <a:t>Instructions used (</a:t>
            </a:r>
            <a:r>
              <a:rPr lang="en-US" b="1" u="sng" dirty="0" err="1"/>
              <a:t>test.prog</a:t>
            </a:r>
            <a:r>
              <a:rPr lang="en-US" b="1" u="sng" dirty="0"/>
              <a:t>)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588E4-1C40-9C81-CA38-588EC21E6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1261610"/>
            <a:ext cx="8098112" cy="59700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• 0000_000_001_000000 // LW R0 &lt;-Mem(R0 + 0)</a:t>
            </a:r>
          </a:p>
          <a:p>
            <a:pPr marL="0" indent="0">
              <a:buNone/>
            </a:pPr>
            <a:r>
              <a:rPr lang="pt-BR" dirty="0"/>
              <a:t>• 0000_000_001_000001 // LW R1 &lt;-Mem(R0 + 1)</a:t>
            </a:r>
          </a:p>
          <a:p>
            <a:pPr marL="0" indent="0">
              <a:buNone/>
            </a:pPr>
            <a:r>
              <a:rPr lang="pt-BR" dirty="0"/>
              <a:t>• 0010_000_001_010_000 // ADD R2 &lt;-R0 + R1</a:t>
            </a:r>
          </a:p>
          <a:p>
            <a:pPr marL="0" indent="0">
              <a:buNone/>
            </a:pPr>
            <a:r>
              <a:rPr lang="pt-BR" dirty="0"/>
              <a:t>• 0110_000_001_010_000 // logical shift right R2 &lt;-R0&gt;&gt;R1</a:t>
            </a:r>
          </a:p>
          <a:p>
            <a:pPr marL="0" indent="0">
              <a:buNone/>
            </a:pPr>
            <a:r>
              <a:rPr lang="pt-BR" dirty="0"/>
              <a:t>• 0000_000_011_000010 // LW R3 &lt;-Mem(R0 + 2)</a:t>
            </a:r>
          </a:p>
          <a:p>
            <a:pPr marL="0" indent="0">
              <a:buNone/>
            </a:pPr>
            <a:r>
              <a:rPr lang="pt-BR" dirty="0"/>
              <a:t>• 0100_011_000_100_000 // NOT R4 &lt;-~R3</a:t>
            </a:r>
          </a:p>
          <a:p>
            <a:pPr marL="0" indent="0">
              <a:buNone/>
            </a:pPr>
            <a:r>
              <a:rPr lang="pt-BR" dirty="0"/>
              <a:t>• 1000_000_001_110_000 // OR R6 &lt;-R0 | R1</a:t>
            </a:r>
          </a:p>
          <a:p>
            <a:pPr marL="0" indent="0">
              <a:buNone/>
            </a:pPr>
            <a:r>
              <a:rPr lang="pt-BR" dirty="0"/>
              <a:t>• 1001_000_001_111_100 // </a:t>
            </a:r>
            <a:r>
              <a:rPr lang="pt-BR" sz="2000" dirty="0"/>
              <a:t>Selecton less thanR7 &lt;-(R0 &lt; R1)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315101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Datapath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1568244"/>
            <a:ext cx="8375904" cy="5289755"/>
          </a:xfrm>
        </p:spPr>
        <p:txBody>
          <a:bodyPr/>
          <a:lstStyle/>
          <a:p>
            <a:endParaRPr dirty="0"/>
          </a:p>
          <a:p>
            <a:pPr marL="128016" lvl="1" indent="0">
              <a:buNone/>
            </a:pPr>
            <a:r>
              <a:rPr sz="2800" dirty="0"/>
              <a:t>Flo</a:t>
            </a:r>
            <a:r>
              <a:rPr lang="en-IN" sz="2800" dirty="0"/>
              <a:t>w:</a:t>
            </a:r>
            <a:endParaRPr dirty="0"/>
          </a:p>
          <a:p>
            <a:pPr lvl="1"/>
            <a:r>
              <a:rPr sz="2200" dirty="0"/>
              <a:t> PC → Instruction Memory</a:t>
            </a:r>
          </a:p>
          <a:p>
            <a:pPr lvl="1"/>
            <a:r>
              <a:rPr sz="2200" dirty="0"/>
              <a:t> Register Read</a:t>
            </a:r>
          </a:p>
          <a:p>
            <a:pPr lvl="1"/>
            <a:r>
              <a:rPr sz="2200" dirty="0"/>
              <a:t> ALU Execute</a:t>
            </a:r>
          </a:p>
          <a:p>
            <a:pPr lvl="1"/>
            <a:r>
              <a:rPr sz="2200" dirty="0"/>
              <a:t> Memory Access</a:t>
            </a:r>
          </a:p>
          <a:p>
            <a:pPr lvl="1"/>
            <a:r>
              <a:rPr sz="2200" dirty="0"/>
              <a:t> Write‑Back to Register File</a:t>
            </a:r>
            <a:endParaRPr lang="en-IN" sz="2200" dirty="0"/>
          </a:p>
          <a:p>
            <a:pPr lvl="1"/>
            <a:endParaRPr lang="en-IN" dirty="0"/>
          </a:p>
          <a:p>
            <a:pPr lvl="1"/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75EBE-88CD-47BB-EB63-A1739334D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DATA MEMORY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9CD11-82FC-3F61-A010-9680B9EF4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8" y="1794830"/>
            <a:ext cx="6918961" cy="457549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The Data Memory block stores and retrieves 16-bit data during program execution.</a:t>
            </a:r>
            <a:br>
              <a:rPr lang="en-US" dirty="0"/>
            </a:br>
            <a:r>
              <a:rPr lang="en-US" dirty="0"/>
              <a:t>It supports both </a:t>
            </a:r>
            <a:r>
              <a:rPr lang="en-US" b="1" dirty="0"/>
              <a:t>read</a:t>
            </a:r>
            <a:r>
              <a:rPr lang="en-US" dirty="0"/>
              <a:t> and </a:t>
            </a:r>
            <a:r>
              <a:rPr lang="en-US" b="1" dirty="0"/>
              <a:t>write</a:t>
            </a:r>
            <a:r>
              <a:rPr lang="en-US" dirty="0"/>
              <a:t> operations and is used by load/store instructions in the RISC processor.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Key Features</a:t>
            </a:r>
          </a:p>
          <a:p>
            <a:r>
              <a:rPr lang="en-US" b="1" dirty="0"/>
              <a:t>8 × 16-bit memory array</a:t>
            </a:r>
            <a:r>
              <a:rPr lang="en-US" dirty="0"/>
              <a:t> (memory[0] to memory[7])</a:t>
            </a:r>
          </a:p>
          <a:p>
            <a:r>
              <a:rPr lang="en-US" b="1" dirty="0"/>
              <a:t>Synchronous write</a:t>
            </a:r>
            <a:r>
              <a:rPr lang="en-US" dirty="0"/>
              <a:t> on the rising edge of clock</a:t>
            </a:r>
          </a:p>
          <a:p>
            <a:r>
              <a:rPr lang="en-US" b="1" dirty="0"/>
              <a:t>Combinational read</a:t>
            </a:r>
            <a:r>
              <a:rPr lang="en-US" dirty="0"/>
              <a:t> when </a:t>
            </a:r>
            <a:r>
              <a:rPr lang="en-US" dirty="0" err="1"/>
              <a:t>mem_read</a:t>
            </a:r>
            <a:r>
              <a:rPr lang="en-US" dirty="0"/>
              <a:t> = 1</a:t>
            </a:r>
          </a:p>
          <a:p>
            <a:r>
              <a:rPr lang="en-US" b="1" dirty="0"/>
              <a:t>Address mapped using lower 3 bits</a:t>
            </a:r>
            <a:r>
              <a:rPr lang="en-US" dirty="0"/>
              <a:t> (</a:t>
            </a:r>
            <a:r>
              <a:rPr lang="en-US" dirty="0" err="1"/>
              <a:t>mem_access_addr</a:t>
            </a:r>
            <a:r>
              <a:rPr lang="en-US" dirty="0"/>
              <a:t>[2:0])</a:t>
            </a:r>
          </a:p>
          <a:p>
            <a:r>
              <a:rPr lang="en-US" b="1" dirty="0"/>
              <a:t>Memory contents initialized from external file</a:t>
            </a:r>
            <a:r>
              <a:rPr lang="en-US" dirty="0"/>
              <a:t> (</a:t>
            </a:r>
            <a:r>
              <a:rPr lang="en-US" dirty="0" err="1"/>
              <a:t>test.data</a:t>
            </a:r>
            <a:r>
              <a:rPr lang="en-US" dirty="0"/>
              <a:t>)</a:t>
            </a:r>
          </a:p>
          <a:p>
            <a:r>
              <a:rPr lang="en-US" b="1" dirty="0"/>
              <a:t>Live monitoring of memory values</a:t>
            </a:r>
            <a:r>
              <a:rPr lang="en-US" dirty="0"/>
              <a:t> using $</a:t>
            </a:r>
            <a:r>
              <a:rPr lang="en-US" dirty="0" err="1"/>
              <a:t>fmonitor</a:t>
            </a:r>
            <a:r>
              <a:rPr lang="en-US" dirty="0"/>
              <a:t> for debug/logging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14013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548" y="207419"/>
            <a:ext cx="7290054" cy="1499616"/>
          </a:xfrm>
        </p:spPr>
        <p:txBody>
          <a:bodyPr/>
          <a:lstStyle/>
          <a:p>
            <a:r>
              <a:rPr b="1" u="sng" dirty="0"/>
              <a:t>Control Unit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6972" y="1440816"/>
            <a:ext cx="7290055" cy="1873389"/>
          </a:xfrm>
        </p:spPr>
        <p:txBody>
          <a:bodyPr>
            <a:normAutofit/>
          </a:bodyPr>
          <a:lstStyle/>
          <a:p>
            <a:pPr marL="128016" lvl="1" indent="0">
              <a:buNone/>
            </a:pPr>
            <a:r>
              <a:rPr sz="3600" dirty="0"/>
              <a:t>Generates control signals</a:t>
            </a:r>
            <a:r>
              <a:rPr sz="2800" dirty="0"/>
              <a:t>:</a:t>
            </a:r>
          </a:p>
          <a:p>
            <a:pPr lvl="1"/>
            <a:r>
              <a:rPr dirty="0"/>
              <a:t> </a:t>
            </a:r>
            <a:r>
              <a:rPr sz="2400" dirty="0"/>
              <a:t>ALU Op</a:t>
            </a:r>
            <a:r>
              <a:rPr lang="en-IN" sz="2400" dirty="0"/>
              <a:t>,</a:t>
            </a:r>
            <a:r>
              <a:rPr sz="2400" dirty="0"/>
              <a:t> </a:t>
            </a:r>
            <a:r>
              <a:rPr sz="2400" dirty="0" err="1"/>
              <a:t>RegWrite</a:t>
            </a:r>
            <a:r>
              <a:rPr lang="en-IN" sz="2400" dirty="0"/>
              <a:t>, </a:t>
            </a:r>
            <a:r>
              <a:rPr sz="2400" dirty="0"/>
              <a:t> </a:t>
            </a:r>
            <a:r>
              <a:rPr sz="2400" dirty="0" err="1"/>
              <a:t>MemWrite</a:t>
            </a:r>
            <a:endParaRPr lang="en-IN" sz="2400" dirty="0"/>
          </a:p>
          <a:p>
            <a:pPr lvl="1"/>
            <a:r>
              <a:rPr lang="en-IN" sz="2400" dirty="0"/>
              <a:t> </a:t>
            </a:r>
            <a:r>
              <a:rPr lang="en-IN" sz="2400" dirty="0" err="1"/>
              <a:t>MemRead</a:t>
            </a:r>
            <a:r>
              <a:rPr lang="en-IN" sz="2400" dirty="0"/>
              <a:t>, </a:t>
            </a:r>
            <a:r>
              <a:rPr lang="en-IN" sz="2400" dirty="0" err="1"/>
              <a:t>MemToReg</a:t>
            </a:r>
            <a:endParaRPr lang="en-IN" sz="2400" dirty="0"/>
          </a:p>
          <a:p>
            <a:pPr marL="128016" lvl="1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19C9DF-B617-1529-76DF-F00D3A7FF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643" y="3314205"/>
            <a:ext cx="7944959" cy="354379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9FD39-775A-A57B-1B53-3E7001755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0633" y="-385491"/>
            <a:ext cx="7429499" cy="1478570"/>
          </a:xfrm>
        </p:spPr>
        <p:txBody>
          <a:bodyPr/>
          <a:lstStyle/>
          <a:p>
            <a:r>
              <a:rPr lang="en-IN" b="1" u="sng" dirty="0"/>
              <a:t>ALU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9DC43-7BE8-BDEE-0D00-9914D20F90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6" y="937548"/>
            <a:ext cx="3889093" cy="575334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1800" b="1" dirty="0"/>
              <a:t>`timescale 1ns / 1ps</a:t>
            </a:r>
          </a:p>
          <a:p>
            <a:pPr marL="0" indent="0" algn="just">
              <a:buNone/>
            </a:pPr>
            <a:r>
              <a:rPr lang="en-IN" sz="1800" b="1" dirty="0"/>
              <a:t>module ALU(</a:t>
            </a:r>
          </a:p>
          <a:p>
            <a:pPr marL="0" indent="0" algn="just">
              <a:buNone/>
            </a:pPr>
            <a:r>
              <a:rPr lang="en-IN" sz="1800" b="1" dirty="0"/>
              <a:t> input  [15:0] </a:t>
            </a:r>
            <a:r>
              <a:rPr lang="en-IN" sz="1800" b="1" dirty="0" err="1"/>
              <a:t>a,b</a:t>
            </a:r>
            <a:r>
              <a:rPr lang="en-IN" sz="1800" b="1" dirty="0"/>
              <a:t>,  //src1 AND  //src2</a:t>
            </a:r>
          </a:p>
          <a:p>
            <a:pPr marL="0" indent="0" algn="just">
              <a:buNone/>
            </a:pPr>
            <a:r>
              <a:rPr lang="en-IN" sz="1800" b="1" dirty="0"/>
              <a:t> input  [2:0] </a:t>
            </a:r>
            <a:r>
              <a:rPr lang="en-IN" sz="1800" b="1" dirty="0" err="1"/>
              <a:t>alu_control</a:t>
            </a:r>
            <a:r>
              <a:rPr lang="en-IN" sz="1800" b="1" dirty="0"/>
              <a:t>, //function </a:t>
            </a:r>
            <a:r>
              <a:rPr lang="en-IN" sz="1800" b="1" dirty="0" err="1"/>
              <a:t>sel</a:t>
            </a:r>
            <a:endParaRPr lang="en-IN" sz="1800" b="1" dirty="0"/>
          </a:p>
          <a:p>
            <a:pPr marL="0" indent="0" algn="just">
              <a:buNone/>
            </a:pPr>
            <a:r>
              <a:rPr lang="en-IN" sz="1800" b="1" dirty="0"/>
              <a:t> output reg [15:0] result,  //result </a:t>
            </a:r>
          </a:p>
          <a:p>
            <a:pPr marL="0" indent="0" algn="just">
              <a:buNone/>
            </a:pPr>
            <a:r>
              <a:rPr lang="en-IN" sz="1800" b="1" dirty="0"/>
              <a:t> output  zero, Negative, Parity   );</a:t>
            </a:r>
          </a:p>
          <a:p>
            <a:pPr marL="0" indent="0" algn="just">
              <a:buNone/>
            </a:pPr>
            <a:r>
              <a:rPr lang="en-IN" sz="1800" b="1" dirty="0"/>
              <a:t>always @(*)</a:t>
            </a:r>
          </a:p>
          <a:p>
            <a:pPr marL="0" indent="0" algn="just">
              <a:buNone/>
            </a:pPr>
            <a:r>
              <a:rPr lang="en-IN" sz="1800" b="1" dirty="0"/>
              <a:t>begin </a:t>
            </a:r>
          </a:p>
          <a:p>
            <a:pPr marL="0" indent="0" algn="just">
              <a:buNone/>
            </a:pPr>
            <a:r>
              <a:rPr lang="en-IN" sz="1800" b="1" dirty="0"/>
              <a:t> case(</a:t>
            </a:r>
            <a:r>
              <a:rPr lang="en-IN" sz="1800" b="1" dirty="0" err="1"/>
              <a:t>alu_control</a:t>
            </a:r>
            <a:r>
              <a:rPr lang="en-IN" sz="1800" b="1" dirty="0"/>
              <a:t>)</a:t>
            </a:r>
          </a:p>
          <a:p>
            <a:pPr marL="0" indent="0" algn="just">
              <a:buNone/>
            </a:pPr>
            <a:r>
              <a:rPr lang="en-IN" sz="1800" b="1" dirty="0"/>
              <a:t> 3'b000: result = a + b; // add</a:t>
            </a:r>
          </a:p>
          <a:p>
            <a:pPr marL="0" indent="0" algn="just">
              <a:buNone/>
            </a:pPr>
            <a:r>
              <a:rPr lang="en-IN" sz="1800" b="1" dirty="0"/>
              <a:t> 3'b001: result = a - b; // sub</a:t>
            </a:r>
          </a:p>
          <a:p>
            <a:pPr marL="0" indent="0" algn="just">
              <a:buNone/>
            </a:pPr>
            <a:r>
              <a:rPr lang="en-IN" sz="1800" b="1" dirty="0"/>
              <a:t> 3'b010: result = ~a;</a:t>
            </a:r>
          </a:p>
          <a:p>
            <a:pPr marL="0" indent="0" algn="just">
              <a:buNone/>
            </a:pPr>
            <a:r>
              <a:rPr lang="en-IN" sz="1800" b="1" dirty="0"/>
              <a:t> 3'b011: result = a&lt;&lt;b;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F7D1A5-2FF9-C5B1-9748-A68191D839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1" y="937548"/>
            <a:ext cx="4512464" cy="575334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1600" b="1" dirty="0"/>
              <a:t>3'b100: result = a&gt;&gt;b;</a:t>
            </a:r>
          </a:p>
          <a:p>
            <a:pPr marL="0" indent="0">
              <a:buNone/>
            </a:pPr>
            <a:r>
              <a:rPr lang="en-IN" sz="1600" b="1" dirty="0"/>
              <a:t> 3'b101: result = a &amp; b; // and</a:t>
            </a:r>
          </a:p>
          <a:p>
            <a:pPr marL="0" indent="0">
              <a:buNone/>
            </a:pPr>
            <a:r>
              <a:rPr lang="en-IN" sz="1600" b="1" dirty="0"/>
              <a:t> 3'b110: result = a | b; // or</a:t>
            </a:r>
          </a:p>
          <a:p>
            <a:pPr marL="0" indent="0">
              <a:buNone/>
            </a:pPr>
            <a:r>
              <a:rPr lang="en-IN" sz="1600" b="1" dirty="0"/>
              <a:t> 3'b111: begin if (a&lt;b) result = 16'd1;</a:t>
            </a:r>
          </a:p>
          <a:p>
            <a:pPr marL="0" indent="0">
              <a:buNone/>
            </a:pPr>
            <a:r>
              <a:rPr lang="en-IN" sz="1600" b="1" dirty="0"/>
              <a:t>    else result = 16'd0;</a:t>
            </a:r>
          </a:p>
          <a:p>
            <a:pPr marL="0" indent="0">
              <a:buNone/>
            </a:pPr>
            <a:r>
              <a:rPr lang="en-IN" sz="1600" b="1" dirty="0"/>
              <a:t>    end</a:t>
            </a:r>
          </a:p>
          <a:p>
            <a:pPr marL="0" indent="0">
              <a:buNone/>
            </a:pPr>
            <a:r>
              <a:rPr lang="en-IN" sz="1600" b="1" dirty="0"/>
              <a:t> </a:t>
            </a:r>
            <a:r>
              <a:rPr lang="en-IN" sz="1600" b="1" dirty="0" err="1"/>
              <a:t>default:result</a:t>
            </a:r>
            <a:r>
              <a:rPr lang="en-IN" sz="1600" b="1" dirty="0"/>
              <a:t> = a + b; // add</a:t>
            </a:r>
          </a:p>
          <a:p>
            <a:pPr marL="0" indent="0">
              <a:buNone/>
            </a:pPr>
            <a:r>
              <a:rPr lang="en-IN" sz="1600" b="1" dirty="0"/>
              <a:t> </a:t>
            </a:r>
            <a:r>
              <a:rPr lang="en-IN" sz="1600" b="1" dirty="0" err="1"/>
              <a:t>endcase</a:t>
            </a:r>
            <a:endParaRPr lang="en-IN" sz="1600" b="1" dirty="0"/>
          </a:p>
          <a:p>
            <a:pPr marL="0" indent="0">
              <a:buNone/>
            </a:pPr>
            <a:r>
              <a:rPr lang="en-IN" sz="1600" b="1" dirty="0"/>
              <a:t>end</a:t>
            </a:r>
          </a:p>
          <a:p>
            <a:pPr marL="0" indent="0">
              <a:buNone/>
            </a:pPr>
            <a:r>
              <a:rPr lang="en-IN" sz="1600" b="1" dirty="0"/>
              <a:t>assign zero = (result==16'd0) ? 1'b1: 1'b0;</a:t>
            </a:r>
          </a:p>
          <a:p>
            <a:pPr marL="0" indent="0">
              <a:buNone/>
            </a:pPr>
            <a:r>
              <a:rPr lang="en-IN" sz="1600" b="1" dirty="0"/>
              <a:t>assign Negative = result[15];  // MSB indicates sign</a:t>
            </a:r>
          </a:p>
          <a:p>
            <a:pPr marL="0" indent="0">
              <a:buNone/>
            </a:pPr>
            <a:r>
              <a:rPr lang="en-IN" sz="1600" b="1" dirty="0"/>
              <a:t>assign Parity   = ^(result);   // XOR of all bits → odd parity = 1, even = 0</a:t>
            </a:r>
          </a:p>
          <a:p>
            <a:pPr marL="0" indent="0">
              <a:buNone/>
            </a:pPr>
            <a:r>
              <a:rPr lang="en-IN" sz="1600" b="1" dirty="0"/>
              <a:t> </a:t>
            </a:r>
            <a:r>
              <a:rPr lang="en-IN" sz="1600" b="1" dirty="0" err="1"/>
              <a:t>endmodule</a:t>
            </a:r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13398802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D579E-4D86-4E00-E270-633082D72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2612" y="0"/>
            <a:ext cx="7429499" cy="1478570"/>
          </a:xfrm>
        </p:spPr>
        <p:txBody>
          <a:bodyPr/>
          <a:lstStyle/>
          <a:p>
            <a:r>
              <a:rPr lang="en-US" b="1" u="sng" dirty="0"/>
              <a:t>ALU CONTROL UNIT</a:t>
            </a:r>
            <a:endParaRPr lang="en-IN" b="1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B29C86-799A-5B10-7DDF-CCA6F714E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889" y="1657859"/>
            <a:ext cx="8040222" cy="499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3224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EA20A-8C2B-C512-5D91-10F1EDB36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46736"/>
            <a:ext cx="7290054" cy="6811264"/>
          </a:xfrm>
        </p:spPr>
        <p:txBody>
          <a:bodyPr>
            <a:noAutofit/>
          </a:bodyPr>
          <a:lstStyle/>
          <a:p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en-IN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ALU_Control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Verilog code</a:t>
            </a:r>
            <a:b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`timescale 1ns / 1ps</a:t>
            </a:r>
            <a:b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</a:t>
            </a:r>
            <a:r>
              <a:rPr lang="en-IN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alu_control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IN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ALU_Cnt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ALUOp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Opcode);</a:t>
            </a:r>
            <a:b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output reg[2:0] </a:t>
            </a:r>
            <a:r>
              <a:rPr lang="en-IN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ALU_Cnt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input [1:0] </a:t>
            </a:r>
            <a:r>
              <a:rPr lang="en-IN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ALUOp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input [3:0] Opcode;</a:t>
            </a:r>
            <a:b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wire [5:0] </a:t>
            </a:r>
            <a:r>
              <a:rPr lang="en-IN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ALUControlIn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assign </a:t>
            </a:r>
            <a:r>
              <a:rPr lang="en-IN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ALUControlIn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{</a:t>
            </a:r>
            <a:r>
              <a:rPr lang="en-IN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ALUOp,Opcode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  <a:b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always @(ALUControlIn)</a:t>
            </a:r>
            <a:b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casex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N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ALUControlIn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6'b10xxxx: </a:t>
            </a:r>
            <a:r>
              <a:rPr lang="en-IN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ALU_Cnt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=3'b000;</a:t>
            </a:r>
            <a:b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6'b01xxxx: </a:t>
            </a:r>
            <a:r>
              <a:rPr lang="en-IN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ALU_Cnt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=3'b001;</a:t>
            </a:r>
            <a:b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6'b000010: </a:t>
            </a:r>
            <a:r>
              <a:rPr lang="en-IN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ALU_Cnt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=3'b000;</a:t>
            </a:r>
            <a:b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6'b000011: </a:t>
            </a:r>
            <a:r>
              <a:rPr lang="en-IN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ALU_Cnt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=3'b001;</a:t>
            </a:r>
            <a:b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6'b000100: </a:t>
            </a:r>
            <a:r>
              <a:rPr lang="en-IN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ALU_Cnt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=3'b010;</a:t>
            </a:r>
            <a:b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6'b000101: </a:t>
            </a:r>
            <a:r>
              <a:rPr lang="en-IN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ALU_Cnt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=3'b011;</a:t>
            </a:r>
            <a:b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6'b000110: </a:t>
            </a:r>
            <a:r>
              <a:rPr lang="en-IN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ALU_Cnt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=3'b100;</a:t>
            </a:r>
            <a:b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6'b000111: </a:t>
            </a:r>
            <a:r>
              <a:rPr lang="en-IN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ALU_Cnt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=3'b101;</a:t>
            </a:r>
            <a:b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6'b001000: </a:t>
            </a:r>
            <a:r>
              <a:rPr lang="en-IN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ALU_Cnt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=3'b110;</a:t>
            </a:r>
            <a:b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6'b001001: </a:t>
            </a:r>
            <a:r>
              <a:rPr lang="en-IN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ALU_Cnt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=3'b111;</a:t>
            </a:r>
            <a:b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default: </a:t>
            </a:r>
            <a:r>
              <a:rPr lang="en-IN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ALU_Cnt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=3'b000;</a:t>
            </a:r>
            <a:b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endcase</a:t>
            </a:r>
            <a:b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endmodule</a:t>
            </a:r>
            <a:endParaRPr lang="en-IN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56738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933D1-42B0-C7A1-29BD-F565B076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1420" y="-120767"/>
            <a:ext cx="7429499" cy="1478570"/>
          </a:xfrm>
        </p:spPr>
        <p:txBody>
          <a:bodyPr/>
          <a:lstStyle/>
          <a:p>
            <a:r>
              <a:rPr lang="en-US" b="1" u="sng" dirty="0"/>
              <a:t>TESTBENCH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EB357-5FDE-B453-6C63-DFF5C596A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2300" y="904240"/>
            <a:ext cx="7698660" cy="5953759"/>
          </a:xfrm>
        </p:spPr>
        <p:txBody>
          <a:bodyPr>
            <a:normAutofit fontScale="92500" lnSpcReduction="10000"/>
          </a:bodyPr>
          <a:lstStyle/>
          <a:p>
            <a:pPr marL="0" indent="0">
              <a:spcBef>
                <a:spcPts val="200"/>
              </a:spcBef>
              <a:buNone/>
            </a:pPr>
            <a:r>
              <a:rPr lang="en-IN" sz="2000" b="1" dirty="0"/>
              <a:t>`timescale 1ns / 1ps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IN" sz="2000" b="1" dirty="0"/>
              <a:t>`include "</a:t>
            </a:r>
            <a:r>
              <a:rPr lang="en-IN" sz="2000" b="1" dirty="0" err="1"/>
              <a:t>Parameter.v</a:t>
            </a:r>
            <a:r>
              <a:rPr lang="en-IN" sz="2000" b="1" dirty="0"/>
              <a:t>"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IN" sz="2000" b="1" dirty="0"/>
              <a:t>module tb;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IN" sz="2000" b="1" dirty="0"/>
              <a:t>reg </a:t>
            </a:r>
            <a:r>
              <a:rPr lang="en-IN" sz="2000" b="1" dirty="0" err="1"/>
              <a:t>clk</a:t>
            </a:r>
            <a:r>
              <a:rPr lang="en-IN" sz="2000" b="1" dirty="0"/>
              <a:t> ;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IN" sz="2000" b="1" dirty="0"/>
              <a:t>wire [15:0] result;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IN" sz="2000" b="1" dirty="0"/>
              <a:t> initial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IN" sz="2000" b="1" dirty="0"/>
              <a:t>  begin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IN" sz="2000" b="1" dirty="0"/>
              <a:t>   </a:t>
            </a:r>
            <a:r>
              <a:rPr lang="en-IN" sz="2000" b="1" dirty="0" err="1"/>
              <a:t>clk</a:t>
            </a:r>
            <a:r>
              <a:rPr lang="en-IN" sz="2000" b="1" dirty="0"/>
              <a:t> &lt;=0;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IN" sz="2000" b="1" dirty="0"/>
              <a:t>   `</a:t>
            </a:r>
            <a:r>
              <a:rPr lang="en-IN" sz="2000" b="1" dirty="0" err="1"/>
              <a:t>simulation_time</a:t>
            </a:r>
            <a:r>
              <a:rPr lang="en-IN" sz="2000" b="1" dirty="0"/>
              <a:t>;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IN" sz="2000" b="1" dirty="0"/>
              <a:t>   $finish;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IN" sz="2000" b="1" dirty="0"/>
              <a:t>  end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IN" sz="2000" b="1" dirty="0"/>
              <a:t> always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IN" sz="2000" b="1" dirty="0"/>
              <a:t>  begin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IN" sz="2000" b="1" dirty="0"/>
              <a:t>    #5 </a:t>
            </a:r>
            <a:r>
              <a:rPr lang="en-IN" sz="2000" b="1" dirty="0" err="1"/>
              <a:t>clk</a:t>
            </a:r>
            <a:r>
              <a:rPr lang="en-IN" sz="2000" b="1" dirty="0"/>
              <a:t> = ~</a:t>
            </a:r>
            <a:r>
              <a:rPr lang="en-IN" sz="2000" b="1" dirty="0" err="1"/>
              <a:t>clk</a:t>
            </a:r>
            <a:r>
              <a:rPr lang="en-IN" sz="2000" b="1" dirty="0"/>
              <a:t>;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IN" sz="2000" b="1" dirty="0"/>
              <a:t>  end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IN" sz="2000" b="1" dirty="0"/>
              <a:t>  Risc_16_bit </a:t>
            </a:r>
            <a:r>
              <a:rPr lang="en-IN" sz="2000" b="1" dirty="0" err="1"/>
              <a:t>uut</a:t>
            </a:r>
            <a:r>
              <a:rPr lang="en-IN" sz="2000" b="1" dirty="0"/>
              <a:t>(.</a:t>
            </a:r>
            <a:r>
              <a:rPr lang="en-IN" sz="2000" b="1" dirty="0" err="1"/>
              <a:t>clk</a:t>
            </a:r>
            <a:r>
              <a:rPr lang="en-IN" sz="2000" b="1" dirty="0"/>
              <a:t>(</a:t>
            </a:r>
            <a:r>
              <a:rPr lang="en-IN" sz="2000" b="1" dirty="0" err="1"/>
              <a:t>clk</a:t>
            </a:r>
            <a:r>
              <a:rPr lang="en-IN" sz="2000" b="1" dirty="0"/>
              <a:t>), .result(result),.</a:t>
            </a:r>
            <a:r>
              <a:rPr lang="en-IN" sz="2000" b="1" dirty="0" err="1"/>
              <a:t>z_flag</a:t>
            </a:r>
            <a:r>
              <a:rPr lang="en-IN" sz="2000" b="1" dirty="0"/>
              <a:t>(</a:t>
            </a:r>
            <a:r>
              <a:rPr lang="en-IN" sz="2000" b="1" dirty="0" err="1"/>
              <a:t>z_flag</a:t>
            </a:r>
            <a:r>
              <a:rPr lang="en-IN" sz="2000" b="1" dirty="0"/>
              <a:t>),.</a:t>
            </a:r>
            <a:r>
              <a:rPr lang="en-IN" sz="2000" b="1" dirty="0" err="1"/>
              <a:t>p_flag</a:t>
            </a:r>
            <a:r>
              <a:rPr lang="en-IN" sz="2000" b="1" dirty="0"/>
              <a:t>( </a:t>
            </a:r>
            <a:r>
              <a:rPr lang="en-IN" sz="2000" b="1" dirty="0" err="1"/>
              <a:t>p_flag</a:t>
            </a:r>
            <a:r>
              <a:rPr lang="en-IN" sz="2000" b="1" dirty="0"/>
              <a:t>));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IN" sz="2000" b="1" dirty="0" err="1"/>
              <a:t>endmodule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895814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6328" y="42520"/>
            <a:ext cx="6571343" cy="1049235"/>
          </a:xfrm>
        </p:spPr>
        <p:txBody>
          <a:bodyPr>
            <a:normAutofit/>
          </a:bodyPr>
          <a:lstStyle/>
          <a:p>
            <a:pPr algn="ctr"/>
            <a:r>
              <a:rPr b="1" dirty="0" err="1"/>
              <a:t>Vivado</a:t>
            </a:r>
            <a:r>
              <a:rPr b="1" dirty="0"/>
              <a:t> Waveform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02C84A2-5049-53E9-9213-A9F73AA3F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651" y="699217"/>
            <a:ext cx="8392696" cy="600158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5" y="342148"/>
            <a:ext cx="7290054" cy="1140106"/>
          </a:xfrm>
        </p:spPr>
        <p:txBody>
          <a:bodyPr/>
          <a:lstStyle/>
          <a:p>
            <a:r>
              <a:rPr lang="en-IN" b="1" u="sng" dirty="0"/>
              <a:t>SYNTHESIS and implementation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11058D-DDEB-5C44-A6A8-742160936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544" y="4098981"/>
            <a:ext cx="6511155" cy="23322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1EA8C6-5947-93CD-0F4C-21469A72F9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85786"/>
            <a:ext cx="9144000" cy="194321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Hazards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dirty="0"/>
              <a:t>Structural hazards avoided</a:t>
            </a:r>
          </a:p>
          <a:p>
            <a:pPr lvl="1"/>
            <a:r>
              <a:rPr dirty="0"/>
              <a:t>No data hazards due to simplified design</a:t>
            </a:r>
          </a:p>
          <a:p>
            <a:pPr lvl="1"/>
            <a:r>
              <a:rPr dirty="0"/>
              <a:t>Control hazards handled by PC update logic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outcome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dirty="0"/>
              <a:t>Working 16‑bit processor implemented</a:t>
            </a:r>
          </a:p>
          <a:p>
            <a:pPr lvl="1"/>
            <a:r>
              <a:rPr dirty="0"/>
              <a:t>Reinforced understanding of CPU architecture</a:t>
            </a:r>
          </a:p>
          <a:p>
            <a:pPr lvl="1"/>
            <a:r>
              <a:rPr dirty="0"/>
              <a:t>Hands‑on experience with RTL, simulation &amp; synthesis</a:t>
            </a:r>
          </a:p>
          <a:p>
            <a:pPr lvl="1"/>
            <a:r>
              <a:rPr dirty="0"/>
              <a:t>Foundation for advanced VLSI/CPU projects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A3C55-4D4C-DF6A-9D90-5FC7E77ED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751F2-E37B-38D8-0E0E-0EC13DAB9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8202596" cy="4608513"/>
          </a:xfrm>
        </p:spPr>
        <p:txBody>
          <a:bodyPr>
            <a:normAutofit fontScale="85000" lnSpcReduction="10000"/>
          </a:bodyPr>
          <a:lstStyle/>
          <a:p>
            <a:r>
              <a:rPr lang="en-IN" dirty="0"/>
              <a:t>Source: isroset.org </a:t>
            </a:r>
            <a:r>
              <a:rPr lang="en-IN" dirty="0">
                <a:hlinkClick r:id="rId2"/>
              </a:rPr>
              <a:t>https://share.google/KBrFRzuKuID7NFgjf</a:t>
            </a:r>
            <a:endParaRPr lang="en-IN" dirty="0"/>
          </a:p>
          <a:p>
            <a:r>
              <a:rPr lang="en-US" dirty="0"/>
              <a:t>The Berkeley RISC Project:   · Patterson, D. A., &amp; Ditzel, D. R. (1980). "The Case for the Reduced Instruction Set Computer." ACM SIGARCH Computer Architecture News, 8(6), 25-33.2.</a:t>
            </a:r>
          </a:p>
          <a:p>
            <a:r>
              <a:rPr lang="en-US" dirty="0"/>
              <a:t>The Stanford MIPS Project:   · Hennessy, J. L., et al. (1982). "The MIPS Machine." Proceedings of the COMPCON Spring ‘82.</a:t>
            </a:r>
          </a:p>
          <a:p>
            <a:r>
              <a:rPr lang="en-US" dirty="0"/>
              <a:t>3.The IBM 801 Project (The Predecessor):   · Radin, G. (1982). "The 801 Minicomputer." ACM SIGARCH Computer Architecture News, 10(2), 39–47.</a:t>
            </a:r>
          </a:p>
          <a:p>
            <a:r>
              <a:rPr lang="en-US" dirty="0"/>
              <a:t>Text books:1. Hennessy, J. L., &amp; Patterson, D. A.   · Computer Architecture: A Quantitative Approach (Now in its 6th or 7th edition).</a:t>
            </a:r>
            <a:endParaRPr lang="en-IN" dirty="0"/>
          </a:p>
          <a:p>
            <a:r>
              <a:rPr lang="en-IN" dirty="0"/>
              <a:t>M. Morris Mano </a:t>
            </a:r>
          </a:p>
        </p:txBody>
      </p:sp>
    </p:spTree>
    <p:extLst>
      <p:ext uri="{BB962C8B-B14F-4D97-AF65-F5344CB8AC3E}">
        <p14:creationId xmlns:p14="http://schemas.microsoft.com/office/powerpoint/2010/main" val="8319937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184D7-A538-4E29-333D-88EBCEF54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1" y="618518"/>
            <a:ext cx="7429499" cy="1478570"/>
          </a:xfrm>
        </p:spPr>
        <p:txBody>
          <a:bodyPr/>
          <a:lstStyle/>
          <a:p>
            <a:pPr algn="ctr"/>
            <a:r>
              <a:rPr lang="en-US" dirty="0"/>
              <a:t>THANKYOU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ECB04-C59B-2A26-C346-995BC47CF5F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SUBMITTED TO: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/>
              <a:t>Dr Nitesh Kashyap</a:t>
            </a:r>
          </a:p>
          <a:p>
            <a:pPr marL="0" indent="0">
              <a:buNone/>
            </a:pPr>
            <a:r>
              <a:rPr lang="en-US" dirty="0"/>
              <a:t>Assistant Professor (Grade-I)</a:t>
            </a:r>
          </a:p>
          <a:p>
            <a:pPr marL="0" indent="0">
              <a:buNone/>
            </a:pPr>
            <a:r>
              <a:rPr lang="en-US" dirty="0"/>
              <a:t>ECE, NIT Jalandhar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7F1E75-02E9-E058-A7BA-5FB6CCAF677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SUBMITTED BY: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Sathwik  25204132</a:t>
            </a:r>
          </a:p>
          <a:p>
            <a:pPr marL="0" indent="0">
              <a:buNone/>
            </a:pPr>
            <a:r>
              <a:rPr lang="en-US" dirty="0"/>
              <a:t>Aditya</a:t>
            </a:r>
            <a:r>
              <a:rPr lang="en-IN" dirty="0"/>
              <a:t>    25904138</a:t>
            </a:r>
          </a:p>
          <a:p>
            <a:pPr marL="0" indent="0">
              <a:buNone/>
            </a:pPr>
            <a:r>
              <a:rPr lang="en-IN" dirty="0"/>
              <a:t>Vishnu    25904150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M.Tech</a:t>
            </a:r>
            <a:r>
              <a:rPr lang="en-IN" dirty="0"/>
              <a:t> VLSI Design</a:t>
            </a:r>
          </a:p>
          <a:p>
            <a:pPr marL="0" indent="0">
              <a:buNone/>
            </a:pPr>
            <a:r>
              <a:rPr lang="en-IN" dirty="0"/>
              <a:t>1</a:t>
            </a:r>
            <a:r>
              <a:rPr lang="en-IN" baseline="30000" dirty="0"/>
              <a:t>st</a:t>
            </a:r>
            <a:r>
              <a:rPr lang="en-IN" dirty="0"/>
              <a:t> Semester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5113825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3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318</TotalTime>
  <Words>1566</Words>
  <Application>Microsoft Office PowerPoint</Application>
  <PresentationFormat>On-screen Show (4:3)</PresentationFormat>
  <Paragraphs>186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Arial</vt:lpstr>
      <vt:lpstr>Calibri</vt:lpstr>
      <vt:lpstr>Gill Sans MT</vt:lpstr>
      <vt:lpstr>Times New Roman</vt:lpstr>
      <vt:lpstr>Tw Cen MT</vt:lpstr>
      <vt:lpstr>Tw Cen MT Condensed</vt:lpstr>
      <vt:lpstr>Wingdings 3</vt:lpstr>
      <vt:lpstr>Gallery</vt:lpstr>
      <vt:lpstr>Circuit</vt:lpstr>
      <vt:lpstr>Integral</vt:lpstr>
      <vt:lpstr>16-bit RISC Processor Design</vt:lpstr>
      <vt:lpstr>Overview</vt:lpstr>
      <vt:lpstr>Architecture</vt:lpstr>
      <vt:lpstr>Pipeline Stages</vt:lpstr>
      <vt:lpstr>PowerPoint Presentation</vt:lpstr>
      <vt:lpstr>PowerPoint Presentation</vt:lpstr>
      <vt:lpstr>INSTRUCTION SET</vt:lpstr>
      <vt:lpstr>PowerPoint Presentation</vt:lpstr>
      <vt:lpstr>PowerPoint Presentation</vt:lpstr>
      <vt:lpstr>INSTRUCTION MEMORY</vt:lpstr>
      <vt:lpstr>Instructions used (test.prog)</vt:lpstr>
      <vt:lpstr>Datapath</vt:lpstr>
      <vt:lpstr>DATA MEMORY</vt:lpstr>
      <vt:lpstr>Control Unit</vt:lpstr>
      <vt:lpstr>ALU</vt:lpstr>
      <vt:lpstr>ALU CONTROL UNIT</vt:lpstr>
      <vt:lpstr>                   ALU_Control Verilog code  `timescale 1ns / 1ps module alu_control( ALU_Cnt, ALUOp, Opcode);  output reg[2:0] ALU_Cnt;  input [1:0] ALUOp;  input [3:0] Opcode;  wire [5:0] ALUControlIn;  assign ALUControlIn = {ALUOp,Opcode};  always @(ALUControlIn)  casex (ALUControlIn)    6'b10xxxx: ALU_Cnt=3'b000;    6'b01xxxx: ALU_Cnt=3'b001;    6'b000010: ALU_Cnt=3'b000;    6'b000011: ALU_Cnt=3'b001;    6'b000100: ALU_Cnt=3'b010;    6'b000101: ALU_Cnt=3'b011;    6'b000110: ALU_Cnt=3'b100;    6'b000111: ALU_Cnt=3'b101;    6'b001000: ALU_Cnt=3'b110;    6'b001001: ALU_Cnt=3'b111;   default: ALU_Cnt=3'b000;   endcase endmodule</vt:lpstr>
      <vt:lpstr>TESTBENCH</vt:lpstr>
      <vt:lpstr>Vivado Waveform</vt:lpstr>
      <vt:lpstr>SYNTHESIS and implementation </vt:lpstr>
      <vt:lpstr>Hazards Handling</vt:lpstr>
      <vt:lpstr>outcome</vt:lpstr>
      <vt:lpstr>References</vt:lpstr>
      <vt:lpstr>THANKYOU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Aditya Gupta</cp:lastModifiedBy>
  <cp:revision>23</cp:revision>
  <dcterms:created xsi:type="dcterms:W3CDTF">2013-01-27T09:14:16Z</dcterms:created>
  <dcterms:modified xsi:type="dcterms:W3CDTF">2025-12-19T05:21:30Z</dcterms:modified>
  <cp:category/>
</cp:coreProperties>
</file>